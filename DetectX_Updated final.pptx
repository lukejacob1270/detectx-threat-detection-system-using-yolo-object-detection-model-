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7774" y="496992"/>
            <a:ext cx="456845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660" y="3204561"/>
            <a:ext cx="7982584" cy="217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2300" y="722033"/>
            <a:ext cx="3524249" cy="885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4968" y="4100167"/>
            <a:ext cx="29756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Presented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by:</a:t>
            </a:r>
            <a:r>
              <a:rPr sz="1900" spc="-200" dirty="0">
                <a:latin typeface="Calibri"/>
                <a:cs typeface="Calibri"/>
              </a:rPr>
              <a:t> </a:t>
            </a:r>
            <a:r>
              <a:rPr sz="1200" spc="-50" dirty="0">
                <a:latin typeface="Tahoma"/>
                <a:cs typeface="Tahoma"/>
              </a:rPr>
              <a:t>CSE-</a:t>
            </a:r>
            <a:r>
              <a:rPr sz="1200" spc="-60" dirty="0">
                <a:latin typeface="Tahoma"/>
                <a:cs typeface="Tahoma"/>
              </a:rPr>
              <a:t>AI&amp;ML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(2023-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2027)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3142" y="5257800"/>
            <a:ext cx="2181860" cy="9105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29"/>
              </a:spcBef>
            </a:pPr>
            <a:r>
              <a:rPr sz="1800" i="1" dirty="0">
                <a:latin typeface="Calibri"/>
                <a:cs typeface="Calibri"/>
              </a:rPr>
              <a:t>Under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Guidance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of: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spc="-10" dirty="0">
                <a:latin typeface="+mj-lt"/>
                <a:cs typeface="Tahoma"/>
              </a:rPr>
              <a:t>Dr.CHANDRASEKAR</a:t>
            </a:r>
            <a:endParaRPr sz="1200" dirty="0">
              <a:latin typeface="+mj-lt"/>
              <a:cs typeface="Tahoma"/>
            </a:endParaRPr>
          </a:p>
          <a:p>
            <a:pPr marL="12700" marR="606425">
              <a:lnSpc>
                <a:spcPct val="109400"/>
              </a:lnSpc>
            </a:pPr>
            <a:r>
              <a:rPr sz="1200" spc="-70" dirty="0">
                <a:latin typeface="+mj-lt"/>
                <a:cs typeface="Tahoma"/>
              </a:rPr>
              <a:t>(Head</a:t>
            </a:r>
            <a:r>
              <a:rPr sz="1200" spc="-110" dirty="0">
                <a:latin typeface="+mj-lt"/>
                <a:cs typeface="Tahoma"/>
              </a:rPr>
              <a:t> </a:t>
            </a:r>
            <a:r>
              <a:rPr sz="1200" spc="-50" dirty="0">
                <a:latin typeface="+mj-lt"/>
                <a:cs typeface="Tahoma"/>
              </a:rPr>
              <a:t>of</a:t>
            </a:r>
            <a:r>
              <a:rPr sz="1200" spc="-105" dirty="0">
                <a:latin typeface="+mj-lt"/>
                <a:cs typeface="Tahoma"/>
              </a:rPr>
              <a:t> </a:t>
            </a:r>
            <a:r>
              <a:rPr sz="1200" spc="-55" dirty="0">
                <a:latin typeface="+mj-lt"/>
                <a:cs typeface="Tahoma"/>
              </a:rPr>
              <a:t>the</a:t>
            </a:r>
            <a:r>
              <a:rPr sz="1200" spc="-105" dirty="0">
                <a:latin typeface="+mj-lt"/>
                <a:cs typeface="Tahoma"/>
              </a:rPr>
              <a:t> </a:t>
            </a:r>
            <a:r>
              <a:rPr sz="1200" spc="-60" dirty="0">
                <a:latin typeface="+mj-lt"/>
                <a:cs typeface="Tahoma"/>
              </a:rPr>
              <a:t>department) </a:t>
            </a:r>
            <a:r>
              <a:rPr sz="1200" spc="-50" dirty="0">
                <a:latin typeface="+mj-lt"/>
                <a:cs typeface="Tahoma"/>
              </a:rPr>
              <a:t>CSE-</a:t>
            </a:r>
            <a:r>
              <a:rPr sz="1200" spc="-10" dirty="0">
                <a:latin typeface="+mj-lt"/>
                <a:cs typeface="Tahoma"/>
              </a:rPr>
              <a:t>AI&amp;ML</a:t>
            </a:r>
            <a:endParaRPr sz="1200" dirty="0">
              <a:latin typeface="+mj-lt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5765" y="4607477"/>
            <a:ext cx="2355215" cy="1696683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71145" indent="-228600" algn="l">
              <a:lnSpc>
                <a:spcPct val="150000"/>
              </a:lnSpc>
              <a:spcBef>
                <a:spcPts val="175"/>
              </a:spcBef>
              <a:buChar char="•"/>
              <a:tabLst>
                <a:tab pos="271145" algn="l"/>
              </a:tabLst>
            </a:pPr>
            <a:r>
              <a:rPr sz="1500" spc="-75" baseline="2777" dirty="0">
                <a:latin typeface="+mj-lt"/>
                <a:cs typeface="Tahoma"/>
              </a:rPr>
              <a:t>LUKE</a:t>
            </a:r>
            <a:r>
              <a:rPr sz="1500" spc="-135" baseline="2777" dirty="0">
                <a:latin typeface="+mj-lt"/>
                <a:cs typeface="Tahoma"/>
              </a:rPr>
              <a:t> </a:t>
            </a:r>
            <a:r>
              <a:rPr sz="1500" spc="-37" baseline="2777" dirty="0">
                <a:latin typeface="+mj-lt"/>
                <a:cs typeface="Tahoma"/>
              </a:rPr>
              <a:t>JACOB</a:t>
            </a:r>
            <a:r>
              <a:rPr sz="1500" spc="-135" baseline="2777" dirty="0">
                <a:latin typeface="+mj-lt"/>
                <a:cs typeface="Tahoma"/>
              </a:rPr>
              <a:t> </a:t>
            </a:r>
            <a:r>
              <a:rPr sz="1500" spc="-67" baseline="2777" dirty="0">
                <a:latin typeface="+mj-lt"/>
                <a:cs typeface="Tahoma"/>
              </a:rPr>
              <a:t>VAIDIAN</a:t>
            </a:r>
            <a:r>
              <a:rPr sz="1500" spc="-135" baseline="2777" dirty="0">
                <a:latin typeface="+mj-lt"/>
                <a:cs typeface="Tahoma"/>
              </a:rPr>
              <a:t> </a:t>
            </a:r>
            <a:r>
              <a:rPr sz="1500" spc="-15" baseline="2777" dirty="0">
                <a:latin typeface="+mj-lt"/>
                <a:cs typeface="Tahoma"/>
              </a:rPr>
              <a:t>(23BTRCL148)</a:t>
            </a:r>
            <a:endParaRPr sz="1500" baseline="2777" dirty="0">
              <a:latin typeface="+mj-lt"/>
              <a:cs typeface="Tahoma"/>
            </a:endParaRPr>
          </a:p>
          <a:p>
            <a:pPr marL="297180" indent="-254635" algn="l">
              <a:lnSpc>
                <a:spcPct val="150000"/>
              </a:lnSpc>
              <a:spcBef>
                <a:spcPts val="75"/>
              </a:spcBef>
              <a:buChar char="•"/>
              <a:tabLst>
                <a:tab pos="297180" algn="l"/>
              </a:tabLst>
            </a:pPr>
            <a:r>
              <a:rPr sz="1500" spc="-67" baseline="2777" dirty="0">
                <a:latin typeface="+mj-lt"/>
                <a:cs typeface="Tahoma"/>
              </a:rPr>
              <a:t>HIZAN</a:t>
            </a:r>
            <a:r>
              <a:rPr sz="1500" spc="-112" baseline="2777" dirty="0">
                <a:latin typeface="+mj-lt"/>
                <a:cs typeface="Tahoma"/>
              </a:rPr>
              <a:t> </a:t>
            </a:r>
            <a:r>
              <a:rPr sz="1500" spc="-75" baseline="2777" dirty="0">
                <a:latin typeface="+mj-lt"/>
                <a:cs typeface="Tahoma"/>
              </a:rPr>
              <a:t>ADHILKS</a:t>
            </a:r>
            <a:r>
              <a:rPr sz="1500" spc="-104" baseline="2777" dirty="0">
                <a:latin typeface="+mj-lt"/>
                <a:cs typeface="Tahoma"/>
              </a:rPr>
              <a:t> </a:t>
            </a:r>
            <a:r>
              <a:rPr sz="1500" spc="-15" baseline="2777" dirty="0">
                <a:latin typeface="+mj-lt"/>
                <a:cs typeface="Tahoma"/>
              </a:rPr>
              <a:t>(23BRCL045)</a:t>
            </a:r>
            <a:endParaRPr sz="1500" baseline="2777" dirty="0">
              <a:latin typeface="+mj-lt"/>
              <a:cs typeface="Tahoma"/>
            </a:endParaRPr>
          </a:p>
          <a:p>
            <a:pPr marL="297180" indent="-254635" algn="l">
              <a:lnSpc>
                <a:spcPct val="150000"/>
              </a:lnSpc>
              <a:spcBef>
                <a:spcPts val="75"/>
              </a:spcBef>
              <a:buChar char="•"/>
              <a:tabLst>
                <a:tab pos="297180" algn="l"/>
              </a:tabLst>
            </a:pPr>
            <a:r>
              <a:rPr sz="1500" spc="-97" baseline="2777" dirty="0">
                <a:latin typeface="+mj-lt"/>
                <a:cs typeface="Tahoma"/>
              </a:rPr>
              <a:t>MM</a:t>
            </a:r>
            <a:r>
              <a:rPr sz="1500" spc="-112" baseline="2777" dirty="0">
                <a:latin typeface="+mj-lt"/>
                <a:cs typeface="Tahoma"/>
              </a:rPr>
              <a:t> </a:t>
            </a:r>
            <a:r>
              <a:rPr sz="1500" spc="-97" baseline="2777" dirty="0">
                <a:latin typeface="+mj-lt"/>
                <a:cs typeface="Tahoma"/>
              </a:rPr>
              <a:t>MOHAMMED</a:t>
            </a:r>
            <a:r>
              <a:rPr sz="1500" spc="-112" baseline="2777" dirty="0">
                <a:latin typeface="+mj-lt"/>
                <a:cs typeface="Tahoma"/>
              </a:rPr>
              <a:t> </a:t>
            </a:r>
            <a:r>
              <a:rPr sz="1500" spc="-82" baseline="2777" dirty="0">
                <a:latin typeface="+mj-lt"/>
                <a:cs typeface="Tahoma"/>
              </a:rPr>
              <a:t>HADHI</a:t>
            </a:r>
            <a:r>
              <a:rPr sz="1500" spc="-104" baseline="2777" dirty="0">
                <a:latin typeface="+mj-lt"/>
                <a:cs typeface="Tahoma"/>
              </a:rPr>
              <a:t> </a:t>
            </a:r>
            <a:r>
              <a:rPr sz="1500" spc="-30" baseline="2777" dirty="0">
                <a:latin typeface="+mj-lt"/>
                <a:cs typeface="Tahoma"/>
              </a:rPr>
              <a:t>(23BTRCL149)</a:t>
            </a:r>
            <a:endParaRPr sz="1500" baseline="2777" dirty="0">
              <a:latin typeface="+mj-lt"/>
              <a:cs typeface="Tahoma"/>
            </a:endParaRPr>
          </a:p>
          <a:p>
            <a:pPr marL="297180" indent="-254635" algn="l">
              <a:lnSpc>
                <a:spcPct val="150000"/>
              </a:lnSpc>
              <a:spcBef>
                <a:spcPts val="75"/>
              </a:spcBef>
              <a:buChar char="•"/>
              <a:tabLst>
                <a:tab pos="297180" algn="l"/>
              </a:tabLst>
            </a:pPr>
            <a:r>
              <a:rPr sz="1500" spc="-67" baseline="2777" dirty="0">
                <a:latin typeface="+mj-lt"/>
                <a:cs typeface="Tahoma"/>
              </a:rPr>
              <a:t>HARI</a:t>
            </a:r>
            <a:r>
              <a:rPr sz="1500" spc="-89" baseline="2777" dirty="0">
                <a:latin typeface="+mj-lt"/>
                <a:cs typeface="Tahoma"/>
              </a:rPr>
              <a:t> </a:t>
            </a:r>
            <a:r>
              <a:rPr sz="1500" spc="-82" baseline="2777" dirty="0">
                <a:latin typeface="+mj-lt"/>
                <a:cs typeface="Tahoma"/>
              </a:rPr>
              <a:t>PRASATH.V</a:t>
            </a:r>
            <a:r>
              <a:rPr sz="1500" spc="-97" baseline="2777" dirty="0">
                <a:latin typeface="+mj-lt"/>
                <a:cs typeface="Tahoma"/>
              </a:rPr>
              <a:t> </a:t>
            </a:r>
            <a:r>
              <a:rPr sz="1500" spc="-15" baseline="2777" dirty="0">
                <a:latin typeface="+mj-lt"/>
                <a:cs typeface="Tahoma"/>
              </a:rPr>
              <a:t>(23BTRCL044)</a:t>
            </a:r>
            <a:endParaRPr sz="1500" baseline="2777" dirty="0">
              <a:latin typeface="+mj-lt"/>
              <a:cs typeface="Tahoma"/>
            </a:endParaRPr>
          </a:p>
          <a:p>
            <a:pPr marL="271145" indent="-228600" algn="l">
              <a:lnSpc>
                <a:spcPct val="150000"/>
              </a:lnSpc>
              <a:spcBef>
                <a:spcPts val="355"/>
              </a:spcBef>
              <a:buChar char="•"/>
              <a:tabLst>
                <a:tab pos="271145" algn="l"/>
              </a:tabLst>
            </a:pPr>
            <a:r>
              <a:rPr sz="1000" spc="-55" dirty="0">
                <a:latin typeface="+mj-lt"/>
                <a:cs typeface="Tahoma"/>
              </a:rPr>
              <a:t>ADVAITH</a:t>
            </a:r>
            <a:r>
              <a:rPr sz="1000" spc="-90" dirty="0">
                <a:latin typeface="+mj-lt"/>
                <a:cs typeface="Tahoma"/>
              </a:rPr>
              <a:t> </a:t>
            </a:r>
            <a:r>
              <a:rPr sz="1000" spc="-55" dirty="0">
                <a:latin typeface="+mj-lt"/>
                <a:cs typeface="Tahoma"/>
              </a:rPr>
              <a:t>KD</a:t>
            </a:r>
            <a:r>
              <a:rPr sz="1000" spc="-90" dirty="0">
                <a:latin typeface="+mj-lt"/>
                <a:cs typeface="Tahoma"/>
              </a:rPr>
              <a:t> </a:t>
            </a:r>
            <a:r>
              <a:rPr sz="1000" spc="-10" dirty="0">
                <a:latin typeface="+mj-lt"/>
                <a:cs typeface="Tahoma"/>
              </a:rPr>
              <a:t>(23BTRCL128)</a:t>
            </a:r>
            <a:endParaRPr sz="1000" dirty="0">
              <a:latin typeface="+mj-lt"/>
              <a:cs typeface="Tahoma"/>
            </a:endParaRPr>
          </a:p>
          <a:p>
            <a:pPr marL="271145" indent="-228600" algn="l">
              <a:lnSpc>
                <a:spcPct val="150000"/>
              </a:lnSpc>
              <a:spcBef>
                <a:spcPts val="20"/>
              </a:spcBef>
              <a:buChar char="•"/>
              <a:tabLst>
                <a:tab pos="271145" algn="l"/>
              </a:tabLst>
            </a:pPr>
            <a:r>
              <a:rPr sz="1000" spc="-50" dirty="0">
                <a:latin typeface="+mj-lt"/>
                <a:cs typeface="Tahoma"/>
              </a:rPr>
              <a:t>FAYYEZ</a:t>
            </a:r>
            <a:r>
              <a:rPr sz="1000" spc="-75" dirty="0">
                <a:latin typeface="+mj-lt"/>
                <a:cs typeface="Tahoma"/>
              </a:rPr>
              <a:t> </a:t>
            </a:r>
            <a:r>
              <a:rPr sz="1000" spc="-50" dirty="0">
                <a:latin typeface="+mj-lt"/>
                <a:cs typeface="Tahoma"/>
              </a:rPr>
              <a:t>MUNSHI</a:t>
            </a:r>
            <a:r>
              <a:rPr sz="1000" spc="-70" dirty="0">
                <a:latin typeface="+mj-lt"/>
                <a:cs typeface="Tahoma"/>
              </a:rPr>
              <a:t> </a:t>
            </a:r>
            <a:r>
              <a:rPr sz="1000" spc="-10" dirty="0">
                <a:latin typeface="+mj-lt"/>
                <a:cs typeface="Tahoma"/>
              </a:rPr>
              <a:t>(23BTRCL153)</a:t>
            </a:r>
            <a:endParaRPr sz="1000" dirty="0">
              <a:latin typeface="+mj-lt"/>
              <a:cs typeface="Tahoma"/>
            </a:endParaRPr>
          </a:p>
          <a:p>
            <a:pPr marL="271145" indent="-233045" algn="l">
              <a:lnSpc>
                <a:spcPct val="150000"/>
              </a:lnSpc>
              <a:spcBef>
                <a:spcPts val="10"/>
              </a:spcBef>
              <a:buSzPct val="90000"/>
              <a:buFont typeface="Calibri"/>
              <a:buChar char="•"/>
              <a:tabLst>
                <a:tab pos="271145" algn="l"/>
              </a:tabLst>
            </a:pPr>
            <a:r>
              <a:rPr sz="1000" spc="-35" dirty="0">
                <a:latin typeface="+mj-lt"/>
                <a:cs typeface="Tahoma"/>
              </a:rPr>
              <a:t>AADIK</a:t>
            </a:r>
            <a:r>
              <a:rPr sz="1000" spc="-114" dirty="0">
                <a:latin typeface="+mj-lt"/>
                <a:cs typeface="Tahoma"/>
              </a:rPr>
              <a:t> </a:t>
            </a:r>
            <a:r>
              <a:rPr sz="1000" spc="-10" dirty="0">
                <a:latin typeface="+mj-lt"/>
                <a:cs typeface="Tahoma"/>
              </a:rPr>
              <a:t>(23BTRCL125)</a:t>
            </a:r>
            <a:endParaRPr sz="1000" dirty="0">
              <a:latin typeface="+mj-lt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46946" y="1857631"/>
            <a:ext cx="4093210" cy="8909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300" spc="-50" dirty="0"/>
              <a:t>PROJECT-</a:t>
            </a:r>
            <a:r>
              <a:rPr sz="2300" dirty="0"/>
              <a:t>CENTRIC</a:t>
            </a:r>
            <a:r>
              <a:rPr sz="2300" spc="-60" dirty="0"/>
              <a:t> </a:t>
            </a:r>
            <a:r>
              <a:rPr sz="2300" dirty="0"/>
              <a:t>LEARNING</a:t>
            </a:r>
            <a:r>
              <a:rPr sz="2300" spc="-60" dirty="0"/>
              <a:t> </a:t>
            </a:r>
            <a:r>
              <a:rPr sz="2300" spc="-10" dirty="0"/>
              <a:t>(PCL)</a:t>
            </a:r>
            <a:endParaRPr sz="2300"/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2700" i="1" dirty="0">
                <a:latin typeface="Calibri"/>
                <a:cs typeface="Calibri"/>
              </a:rPr>
              <a:t>DETECT</a:t>
            </a:r>
            <a:r>
              <a:rPr sz="2700" i="1" spc="-90" dirty="0">
                <a:latin typeface="Calibri"/>
                <a:cs typeface="Calibri"/>
              </a:rPr>
              <a:t> </a:t>
            </a:r>
            <a:r>
              <a:rPr sz="2700" i="1" spc="-50" dirty="0">
                <a:latin typeface="Calibri"/>
                <a:cs typeface="Calibri"/>
              </a:rPr>
              <a:t>X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6558" y="2727045"/>
            <a:ext cx="4370883" cy="427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700" spc="-10" dirty="0">
                <a:latin typeface="Calibri"/>
                <a:cs typeface="Calibri"/>
              </a:rPr>
              <a:t>           Final </a:t>
            </a:r>
            <a:r>
              <a:rPr sz="2700" spc="-10" dirty="0">
                <a:latin typeface="Calibri"/>
                <a:cs typeface="Calibri"/>
              </a:rPr>
              <a:t>Presentation</a:t>
            </a:r>
            <a:r>
              <a:rPr sz="2700" spc="-70" dirty="0">
                <a:latin typeface="Calibri"/>
                <a:cs typeface="Calibri"/>
              </a:rPr>
              <a:t> 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8090" y="905513"/>
            <a:ext cx="1085849" cy="1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00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199" y="965585"/>
            <a:ext cx="2732405" cy="4290277"/>
          </a:xfrm>
          <a:prstGeom prst="rect">
            <a:avLst/>
          </a:prstGeom>
        </p:spPr>
        <p:txBody>
          <a:bodyPr vert="horz" wrap="square" lIns="0" tIns="233045" rIns="0" bIns="0" rtlCol="0">
            <a:spAutoFit/>
          </a:bodyPr>
          <a:lstStyle/>
          <a:p>
            <a:pPr marL="173355" indent="-168275">
              <a:lnSpc>
                <a:spcPct val="100000"/>
              </a:lnSpc>
              <a:spcBef>
                <a:spcPts val="1835"/>
              </a:spcBef>
              <a:buSzPct val="96078"/>
              <a:buChar char="•"/>
              <a:tabLst>
                <a:tab pos="173355" algn="l"/>
              </a:tabLst>
            </a:pPr>
            <a:r>
              <a:rPr sz="2550" spc="-10" dirty="0">
                <a:latin typeface="Calibri"/>
                <a:cs typeface="Calibri"/>
              </a:rPr>
              <a:t>Abstract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spc="-10" dirty="0">
                <a:latin typeface="Calibri"/>
                <a:cs typeface="Calibri"/>
              </a:rPr>
              <a:t>Introduction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dirty="0">
                <a:latin typeface="Calibri"/>
                <a:cs typeface="Calibri"/>
              </a:rPr>
              <a:t>Aim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and</a:t>
            </a:r>
            <a:r>
              <a:rPr sz="2550" spc="-1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Objectives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dirty="0">
                <a:latin typeface="Calibri"/>
                <a:cs typeface="Calibri"/>
              </a:rPr>
              <a:t>Existing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System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spc="-10" dirty="0">
                <a:latin typeface="Calibri"/>
                <a:cs typeface="Calibri"/>
              </a:rPr>
              <a:t>Limitations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dirty="0">
                <a:latin typeface="Calibri"/>
                <a:cs typeface="Calibri"/>
              </a:rPr>
              <a:t>Proposed</a:t>
            </a:r>
            <a:r>
              <a:rPr sz="2550" spc="-8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System</a:t>
            </a:r>
            <a:endParaRPr sz="2550" dirty="0">
              <a:latin typeface="Calibri"/>
              <a:cs typeface="Calibri"/>
            </a:endParaRPr>
          </a:p>
          <a:p>
            <a:pPr marL="173355" indent="-168275">
              <a:lnSpc>
                <a:spcPct val="100000"/>
              </a:lnSpc>
              <a:spcBef>
                <a:spcPts val="1739"/>
              </a:spcBef>
              <a:buSzPct val="96078"/>
              <a:buChar char="•"/>
              <a:tabLst>
                <a:tab pos="173355" algn="l"/>
              </a:tabLst>
            </a:pPr>
            <a:r>
              <a:rPr sz="2550" spc="-10" dirty="0">
                <a:latin typeface="Calibri"/>
                <a:cs typeface="Calibri"/>
              </a:rPr>
              <a:t>Conclusion</a:t>
            </a:r>
            <a:endParaRPr sz="2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23951"/>
            <a:ext cx="1200149" cy="1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0969" y="763311"/>
            <a:ext cx="1238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32412A6-3A41-92E0-8621-91F9DA7D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053" y="679847"/>
            <a:ext cx="773430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Real-Time Object Detection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DETECT-X is designed to perform fast and accurate object detection in live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YOLO26-Based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system leverages YOLO26 with anchor-free detection, MuSGD optimizer, and ProgLoss training strategy for superior accuracy and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 Classification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It allows detection of domain-specific objects beyond standard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Threat Detection and Response Pipeline: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DetectX detects dangerous objects (knives) via webcam and triggers auditory alarms, timestamped frame archival, and structured event logging.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Progression and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System spans four generations: YOLOv5s (37.4% mAP), YOLO26s (48.6%), YOLO26m (55.7%), and fine-tuned YOLO26m (87.5% mAP) on 7,686 knife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Optimized 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Model optimization techniques enable efficient performance on both GPU and CPU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Temporal Persistence Filter: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Reduces false positive alarms by enforcing a 2-second sustained detection requirement, validated across 151 anomaly frames and 1,178 detection log entries.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0702" y="905513"/>
            <a:ext cx="1790699" cy="1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25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580707" y="930782"/>
            <a:ext cx="7982584" cy="555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Growth of Computer Vision:</a:t>
            </a:r>
            <a:r>
              <a:rPr lang="en-US" sz="2000" dirty="0"/>
              <a:t> Object detection has become an essential component of modern computer vision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Need for Real-Time Monitoring:</a:t>
            </a:r>
            <a:r>
              <a:rPr lang="en-US" sz="2000" dirty="0"/>
              <a:t> Applications such as surveillance, traffic management, and industrial inspection require fast and accurate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 of Deep Learning:</a:t>
            </a:r>
            <a:r>
              <a:rPr lang="en-US" sz="2000" dirty="0"/>
              <a:t> Convolutional Neural Networks (CNNs) have significantly improved object detection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Advancement to YOLO26:</a:t>
            </a:r>
            <a:r>
              <a:rPr lang="en-US" sz="2000" dirty="0"/>
              <a:t> YOLO26 introduces anchor-free detection, MuSGD optimizer, and ProgLoss training, achieving 49.2% relative improvement in mAP over YOLOv5 for surveillance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Limitation of Pre-Trained Models:</a:t>
            </a:r>
            <a:r>
              <a:rPr lang="en-US" sz="2000" dirty="0"/>
              <a:t> Standard models are restricted to predefined object categories and may not perform well in domain-specific scenarios.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Need for Customizable Framework:</a:t>
            </a:r>
            <a:r>
              <a:rPr lang="en-US" sz="2000" dirty="0"/>
              <a:t> There is a requirement for a flexible system that supports custom object detection with integrated monitoring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Introduction of DETECT-X:</a:t>
            </a:r>
            <a:r>
              <a:rPr lang="en-US" sz="2000" dirty="0"/>
              <a:t> The proposed system addresses these needs by integrating domain-specific knife detection, temporal persistence filtering, auditory alarms, frame archival, and structured event logging into a unified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0563" y="842010"/>
            <a:ext cx="2905124" cy="1523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5800" y="1078741"/>
            <a:ext cx="7634605" cy="493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Deploy YOLO26-based Threat Detection:</a:t>
            </a:r>
            <a:r>
              <a:rPr lang="en-US" sz="2000" dirty="0">
                <a:latin typeface="+mj-lt"/>
              </a:rPr>
              <a:t> To build a real-time knife detection model using YOLO26m fine-tuned on domain-specific surveillance data for high accuracy and speed.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Domain-Specific Fine-Tuning:</a:t>
            </a:r>
            <a:r>
              <a:rPr lang="en-US" sz="2000" dirty="0">
                <a:latin typeface="+mj-lt"/>
              </a:rPr>
              <a:t> To fine-tune YOLO26m on 7,686 annotated knife images from Roboflow Universe, achieving 93.5% mAP@0.5.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Temporal Persistence Filter:</a:t>
            </a:r>
            <a:r>
              <a:rPr lang="en-US" sz="2000" dirty="0">
                <a:latin typeface="+mj-lt"/>
              </a:rPr>
              <a:t> To implement a 2-second sustained detection requirement that reduces false positive alarms from transient misdetections.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Evidence Preservation and Logging:</a:t>
            </a:r>
            <a:r>
              <a:rPr lang="en-US" sz="2000" dirty="0">
                <a:latin typeface="+mj-lt"/>
              </a:rPr>
              <a:t> To automatically save timestamped anomaly frames and structured event logs for audit trails and post-incident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Implement Alert Mechanism:</a:t>
            </a:r>
            <a:r>
              <a:rPr lang="en-US" sz="2000" dirty="0">
                <a:latin typeface="+mj-lt"/>
              </a:rPr>
              <a:t> To trigger auditory alarms immediately upon confirmed threat detection while maintaining continuous monitoring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Ensure Data Logging:</a:t>
            </a:r>
            <a:r>
              <a:rPr lang="en-US" sz="2000" dirty="0">
                <a:latin typeface="+mj-lt"/>
              </a:rPr>
              <a:t> To benchmark four deployment configurations: CPU FP32 (120ms), ONNX (85ms), INT8 (45ms), GPU FP16 (6.4ms), and TensorRT (3.2ms, 312 fps).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Optimize for Deployment:</a:t>
            </a:r>
            <a:r>
              <a:rPr lang="en-US" sz="2000" dirty="0">
                <a:latin typeface="+mj-lt"/>
              </a:rPr>
              <a:t> To apply model optimization techniques for efficient CPU and GPU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Provide User Interface:</a:t>
            </a:r>
            <a:r>
              <a:rPr lang="en-US" sz="2000" dirty="0">
                <a:latin typeface="+mj-lt"/>
              </a:rPr>
              <a:t> To develop a web-based dashboard for real-time monitoring and control.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95"/>
              </a:spcBef>
            </a:pPr>
            <a:r>
              <a:rPr dirty="0"/>
              <a:t>Aim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5649" y="881129"/>
            <a:ext cx="866774" cy="190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5453" y="881129"/>
            <a:ext cx="219074" cy="19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4261" y="881129"/>
            <a:ext cx="657224" cy="1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7615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Existing</a:t>
            </a:r>
            <a:r>
              <a:rPr sz="2600" spc="-35" dirty="0"/>
              <a:t> </a:t>
            </a:r>
            <a:r>
              <a:rPr sz="2600" spc="-10" dirty="0"/>
              <a:t>System</a:t>
            </a:r>
            <a:endParaRPr sz="2600" dirty="0"/>
          </a:p>
        </p:txBody>
      </p:sp>
      <p:sp>
        <p:nvSpPr>
          <p:cNvPr id="6" name="object 6"/>
          <p:cNvSpPr txBox="1"/>
          <p:nvPr/>
        </p:nvSpPr>
        <p:spPr>
          <a:xfrm>
            <a:off x="321055" y="993338"/>
            <a:ext cx="8392160" cy="55190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just">
              <a:lnSpc>
                <a:spcPts val="1800"/>
              </a:lnSpc>
              <a:spcBef>
                <a:spcPts val="204"/>
              </a:spcBef>
            </a:pPr>
            <a:r>
              <a:rPr lang="en-US" sz="2000" dirty="0">
                <a:latin typeface="Calibri"/>
                <a:cs typeface="Calibri"/>
              </a:rPr>
              <a:t>Before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DETECTX,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several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object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detection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models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used,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limitations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speed,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accuracy,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generalization.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existing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include:</a:t>
            </a:r>
            <a:endParaRPr lang="en-US" sz="2000" dirty="0">
              <a:latin typeface="Calibri"/>
              <a:cs typeface="Calibri"/>
            </a:endParaRPr>
          </a:p>
          <a:p>
            <a:pPr marL="205104" indent="-192405" algn="just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05104" algn="l"/>
              </a:tabLst>
            </a:pPr>
            <a:r>
              <a:rPr lang="en-US" sz="2000" b="1" dirty="0">
                <a:latin typeface="Calibri"/>
                <a:cs typeface="Calibri"/>
              </a:rPr>
              <a:t>Traditional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Object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Detection</a:t>
            </a:r>
            <a:r>
              <a:rPr lang="en-US" sz="2000" b="1" spc="-6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Methods</a:t>
            </a:r>
            <a:endParaRPr lang="en-US" sz="2000" b="1" dirty="0">
              <a:latin typeface="Calibri"/>
              <a:cs typeface="Calibri"/>
            </a:endParaRPr>
          </a:p>
          <a:p>
            <a:pPr marL="12700" marR="118110" lvl="1" indent="-7620" algn="just">
              <a:lnSpc>
                <a:spcPct val="108900"/>
              </a:lnSpc>
              <a:spcBef>
                <a:spcPts val="1500"/>
              </a:spcBef>
              <a:buSzPct val="93548"/>
              <a:buChar char="•"/>
              <a:tabLst>
                <a:tab pos="109855" algn="l"/>
              </a:tabLst>
            </a:pPr>
            <a:r>
              <a:rPr lang="en-US" sz="2000" dirty="0">
                <a:latin typeface="Calibri"/>
                <a:cs typeface="Calibri"/>
              </a:rPr>
              <a:t>Haar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Cascades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&amp;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HOG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(Histogram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Oriented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Gradients):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face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object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detectin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lacked </a:t>
            </a:r>
            <a:r>
              <a:rPr lang="en-US" sz="2000" dirty="0">
                <a:latin typeface="Calibri"/>
                <a:cs typeface="Calibri"/>
              </a:rPr>
              <a:t>precision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were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computationally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expensive.</a:t>
            </a:r>
            <a:endParaRPr lang="en-US" sz="2000" dirty="0">
              <a:latin typeface="Calibri"/>
              <a:cs typeface="Calibri"/>
            </a:endParaRPr>
          </a:p>
          <a:p>
            <a:pPr marL="12700" marR="920750" lvl="1" indent="-7620" algn="just">
              <a:lnSpc>
                <a:spcPts val="2330"/>
              </a:lnSpc>
              <a:spcBef>
                <a:spcPts val="75"/>
              </a:spcBef>
              <a:buSzPct val="93548"/>
              <a:buChar char="•"/>
              <a:tabLst>
                <a:tab pos="109855" algn="l"/>
              </a:tabLst>
            </a:pPr>
            <a:r>
              <a:rPr lang="en-US" sz="2000" dirty="0">
                <a:latin typeface="Calibri"/>
                <a:cs typeface="Calibri"/>
              </a:rPr>
              <a:t>Selective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Search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&amp;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Sliding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Window: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techniques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were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slow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inefficient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real-</a:t>
            </a:r>
            <a:r>
              <a:rPr lang="en-US" sz="2000" spc="-20" dirty="0">
                <a:latin typeface="Calibri"/>
                <a:cs typeface="Calibri"/>
              </a:rPr>
              <a:t>time </a:t>
            </a:r>
            <a:r>
              <a:rPr lang="en-US" sz="2000" spc="-10" dirty="0">
                <a:latin typeface="Calibri"/>
                <a:cs typeface="Calibri"/>
              </a:rPr>
              <a:t>applications.</a:t>
            </a:r>
            <a:endParaRPr lang="en-US" sz="2000" dirty="0">
              <a:latin typeface="Calibri"/>
              <a:cs typeface="Calibri"/>
            </a:endParaRPr>
          </a:p>
          <a:p>
            <a:pPr marL="206375" indent="-193675" algn="just">
              <a:lnSpc>
                <a:spcPct val="100000"/>
              </a:lnSpc>
              <a:spcBef>
                <a:spcPts val="229"/>
              </a:spcBef>
              <a:buAutoNum type="arabicPeriod" startAt="2"/>
              <a:tabLst>
                <a:tab pos="206375" algn="l"/>
              </a:tabLst>
            </a:pPr>
            <a:r>
              <a:rPr lang="en-US" sz="2000" b="1" dirty="0">
                <a:latin typeface="Calibri"/>
                <a:cs typeface="Calibri"/>
              </a:rPr>
              <a:t>Deep</a:t>
            </a:r>
            <a:r>
              <a:rPr lang="en-US" sz="2000" b="1" spc="-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Learning-</a:t>
            </a:r>
            <a:r>
              <a:rPr lang="en-US" sz="2000" b="1" dirty="0">
                <a:latin typeface="Calibri"/>
                <a:cs typeface="Calibri"/>
              </a:rPr>
              <a:t>Based Object Detection </a:t>
            </a:r>
            <a:r>
              <a:rPr lang="en-US" sz="2000" b="1" spc="-10" dirty="0">
                <a:latin typeface="Calibri"/>
                <a:cs typeface="Calibri"/>
              </a:rPr>
              <a:t>Models</a:t>
            </a:r>
            <a:endParaRPr lang="en-US" sz="2000" b="1" dirty="0">
              <a:latin typeface="Calibri"/>
              <a:cs typeface="Calibri"/>
            </a:endParaRPr>
          </a:p>
          <a:p>
            <a:pPr marL="109855" lvl="1" indent="-104775" algn="just">
              <a:lnSpc>
                <a:spcPct val="100000"/>
              </a:lnSpc>
              <a:spcBef>
                <a:spcPts val="1739"/>
              </a:spcBef>
              <a:buSzPct val="93548"/>
              <a:buChar char="•"/>
              <a:tabLst>
                <a:tab pos="109855" algn="l"/>
              </a:tabLst>
            </a:pPr>
            <a:r>
              <a:rPr lang="en-US" sz="2000" dirty="0">
                <a:latin typeface="Calibri"/>
                <a:cs typeface="Calibri"/>
              </a:rPr>
              <a:t>Faster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R-</a:t>
            </a:r>
            <a:r>
              <a:rPr lang="en-US" sz="2000" dirty="0">
                <a:latin typeface="Calibri"/>
                <a:cs typeface="Calibri"/>
              </a:rPr>
              <a:t>CNN: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high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accuracy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slow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due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need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region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proposals.</a:t>
            </a:r>
            <a:endParaRPr lang="en-US" sz="2000" dirty="0">
              <a:latin typeface="Calibri"/>
              <a:cs typeface="Calibri"/>
            </a:endParaRPr>
          </a:p>
          <a:p>
            <a:pPr marL="12700" marR="621665" lvl="1" indent="-7620" algn="just">
              <a:lnSpc>
                <a:spcPct val="125000"/>
              </a:lnSpc>
              <a:spcBef>
                <a:spcPts val="1200"/>
              </a:spcBef>
              <a:buSzPct val="93548"/>
              <a:buChar char="•"/>
              <a:tabLst>
                <a:tab pos="109855" algn="l"/>
              </a:tabLst>
            </a:pPr>
            <a:r>
              <a:rPr lang="en-US" sz="2000" dirty="0">
                <a:latin typeface="Calibri"/>
                <a:cs typeface="Calibri"/>
              </a:rPr>
              <a:t>YOLO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(You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Look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Once):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Much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faster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R-</a:t>
            </a:r>
            <a:r>
              <a:rPr lang="en-US" sz="2000" dirty="0">
                <a:latin typeface="Calibri"/>
                <a:cs typeface="Calibri"/>
              </a:rPr>
              <a:t>CNN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SSD,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earlier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versions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difficulty </a:t>
            </a:r>
            <a:r>
              <a:rPr lang="en-US" sz="2000" dirty="0">
                <a:latin typeface="Calibri"/>
                <a:cs typeface="Calibri"/>
              </a:rPr>
              <a:t>detecting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overlapping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objects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small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objects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cluttered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scenes.</a:t>
            </a:r>
            <a:endParaRPr lang="en-US" sz="2000" dirty="0">
              <a:latin typeface="Calibri"/>
              <a:cs typeface="Calibri"/>
            </a:endParaRPr>
          </a:p>
          <a:p>
            <a:pPr marL="109855" lvl="1" indent="-104775" algn="just">
              <a:lnSpc>
                <a:spcPct val="100000"/>
              </a:lnSpc>
              <a:spcBef>
                <a:spcPts val="390"/>
              </a:spcBef>
              <a:buSzPct val="93548"/>
              <a:buChar char="•"/>
              <a:tabLst>
                <a:tab pos="109855" algn="l"/>
              </a:tabLst>
            </a:pPr>
            <a:r>
              <a:rPr lang="en-US" sz="2000" dirty="0">
                <a:latin typeface="Calibri"/>
                <a:cs typeface="Calibri"/>
              </a:rPr>
              <a:t>SSD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(Single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Shot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MultiBox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Detector):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Faster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R-</a:t>
            </a:r>
            <a:r>
              <a:rPr lang="en-US" sz="2000" dirty="0">
                <a:latin typeface="Calibri"/>
                <a:cs typeface="Calibri"/>
              </a:rPr>
              <a:t>CNN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struggled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small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object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detection.</a:t>
            </a: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051" y="1601813"/>
            <a:ext cx="3286124" cy="190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0395" y="1601813"/>
            <a:ext cx="219074" cy="19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9584" y="1601813"/>
            <a:ext cx="657224" cy="19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09800" y="1219200"/>
            <a:ext cx="45684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Limitations</a:t>
            </a:r>
            <a:r>
              <a:rPr sz="2600" spc="-35" dirty="0"/>
              <a:t> </a:t>
            </a:r>
            <a:r>
              <a:rPr sz="2600" dirty="0"/>
              <a:t>of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0" dirty="0"/>
              <a:t> </a:t>
            </a:r>
            <a:r>
              <a:rPr sz="2600" dirty="0"/>
              <a:t>Existing</a:t>
            </a:r>
            <a:r>
              <a:rPr sz="2600" spc="-30" dirty="0"/>
              <a:t> </a:t>
            </a:r>
            <a:r>
              <a:rPr sz="2600" spc="-10" dirty="0"/>
              <a:t>System</a:t>
            </a:r>
            <a:endParaRPr sz="2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8D079EE-DD66-B271-1603-4948533E1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11288"/>
            <a:ext cx="80009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Integrated Alert Mechanism: Standard YOLO outputs detections but provides no downstream alarm, notification, or operational response pipeline.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Evidence Preservation: No automatic mechanism to save video frames or clips as evidentiary material for legal or post-incident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Persistent Structured Logging: Detection events are not recorded with timestamps, confidence scores, and labels, leaving no audit trail.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 False Positive Rate: Pre-trained COCO models detect 80 classes; scissors, toothbrushes, and similar objects cause unnecessary alarms.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Temporal Persistence Filtering: Single-frame detections from motion blur or transient artifacts trigger unacceptably high false alarm rates.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Domain-Specific Optimization: COCO-trained models have limited exposure to knife imagery in diverse orientations and lighting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3458" y="879605"/>
            <a:ext cx="1495424" cy="190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2005" y="879605"/>
            <a:ext cx="657224" cy="19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Proposed</a:t>
            </a:r>
            <a:r>
              <a:rPr sz="2600" spc="-40" dirty="0"/>
              <a:t> </a:t>
            </a:r>
            <a:r>
              <a:rPr sz="2600" spc="-10" dirty="0"/>
              <a:t>System</a:t>
            </a:r>
            <a:endParaRPr sz="26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5E44DED-3D70-E49E-B6E7-75745F2B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09018"/>
            <a:ext cx="830580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Built on YOLO26m architecture with anchor-free detection, MuSGD optimizer, and ProgLoss training for real-time threat detection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Fine-tuned YOLO26m on 7,686 annotated knife images achieving 87.5% mAP@0.5:0.95 and 93.5% mAP@0.5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Processes standard webcam feed in real time, detecting knives and dangerous objects with bounding box localization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2-second temporal persistence filter requires sustained detection across ~16 frames before triggering alarm, dramatically reducing false positives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Integrated response pipeline: auditory alarms (winsound), JPEG frame archival, and structured CSV event logging with timestamps and confidence scores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Validated in live testing: 151 anomaly frames saved, 1,178 log entries written, 5 detection sequences, zero system crashes in 3-minute session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93% cost reduction and 94% time-to-deployment savings vs. ground-up development ($2,000 and 2 days vs. $28,000 and 31 days)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DANGER_OBJECTS whitelist filtering ensures only genuine threat classes trigger alarms, preventing false alarms from background object misclassifications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Optimized using ONNX export, INT8 quantization, and FP16 precision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Scalable and suitable for both GPU and CPU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8049" y="905513"/>
            <a:ext cx="1581149" cy="190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00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144" y="1066800"/>
            <a:ext cx="8093709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Transformative Fine-Tuning Impact:</a:t>
            </a:r>
            <a:r>
              <a:rPr lang="en-US" sz="2000" dirty="0">
                <a:latin typeface="+mj-lt"/>
              </a:rPr>
              <a:t> DetectX achieves 87.5% mAP@0.5:0.95 and 93.5% mAP@0.5 using fine-tuned YOLO26m, a 57.1% relative improvement over the COCO-pretrained baseline.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Domain Adaptation Over Architecture:</a:t>
            </a:r>
            <a:r>
              <a:rPr lang="en-US" sz="2000" dirty="0">
                <a:latin typeface="+mj-lt"/>
              </a:rPr>
              <a:t> Domain-specific fine-tuning on 7,686 knife images — not architectural novelty — is the primary driver of reliable real-world detection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Effective Persistence Filtering:</a:t>
            </a:r>
            <a:r>
              <a:rPr lang="en-US" sz="2000" dirty="0">
                <a:latin typeface="+mj-lt"/>
              </a:rPr>
              <a:t> The 2-second persistence filter suppresses false alarms from transient misdetections with only a modest delay — validated across 5 detection sequences in live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Wide Deployment Range:</a:t>
            </a:r>
            <a:r>
              <a:rPr lang="en-US" sz="2000" dirty="0">
                <a:latin typeface="+mj-lt"/>
              </a:rPr>
              <a:t> Deployment spans from TensorRT GPU (3.2 ms, 312 fps) for multi-camera setups to INT8 CPU (45 ms, 3.8 MB model) for edge devices like Raspberry 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Cost-Efficient and Reliable:</a:t>
            </a:r>
            <a:r>
              <a:rPr lang="en-US" sz="2000" dirty="0">
                <a:latin typeface="+mj-lt"/>
              </a:rPr>
              <a:t> 93% cost reduction and 94% time savings vs. ground-up development; system ran continuously without crash across 3 minutes of live testing with 100% subsystem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Production-Ready with Future Scope:</a:t>
            </a:r>
            <a:r>
              <a:rPr lang="en-US" sz="2000" dirty="0">
                <a:latin typeface="+mj-lt"/>
              </a:rPr>
              <a:t> DetectX is ready for production deployment in public surveillance, with future scope including firearm detection, federated learning, and cloud-based remote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158" y="3000085"/>
            <a:ext cx="28219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/>
              <a:t>Thank</a:t>
            </a:r>
            <a:r>
              <a:rPr sz="5200" spc="-130" dirty="0"/>
              <a:t> </a:t>
            </a:r>
            <a:r>
              <a:rPr sz="5200" spc="-25" dirty="0"/>
              <a:t>You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1256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PROJECT-CENTRIC LEARNING (PCL) DETECT X</vt:lpstr>
      <vt:lpstr>Agenda</vt:lpstr>
      <vt:lpstr>Abstract</vt:lpstr>
      <vt:lpstr>Introduction</vt:lpstr>
      <vt:lpstr>Aim and Objectives</vt:lpstr>
      <vt:lpstr>Existing System</vt:lpstr>
      <vt:lpstr>Limitations of the Existing System</vt:lpstr>
      <vt:lpstr>Proposed System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final.pdf</dc:title>
  <dc:creator>Luke Jacob</dc:creator>
  <cp:keywords>DAGljzNMTic,BAEe6lyPnds,0</cp:keywords>
  <cp:lastModifiedBy>LUKE JACOB</cp:lastModifiedBy>
  <cp:revision>5</cp:revision>
  <dcterms:created xsi:type="dcterms:W3CDTF">2025-04-24T15:49:02Z</dcterms:created>
  <dcterms:modified xsi:type="dcterms:W3CDTF">2026-04-26T14:38:48Z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2025-04-24T00:00:00Z</vt:filetime>
  </property>
  <property fmtid="{D5CDD505-2E9C-101B-9397-08002B2CF9AE}" pid="3" name="Creator">
    <vt:lpwstr>Canva</vt:lpwstr>
  </property>
  <property fmtid="{D5CDD505-2E9C-101B-9397-08002B2CF9AE}" pid="4" name="LastSaved">
    <vt:filetime>2025-04-24T00:00:00Z</vt:filetime>
  </property>
  <property fmtid="{D5CDD505-2E9C-101B-9397-08002B2CF9AE}" pid="5" name="Producer">
    <vt:lpwstr>Canva</vt:lpwstr>
  </property>
</Properties>
</file>